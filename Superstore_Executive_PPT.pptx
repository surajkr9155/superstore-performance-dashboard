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19"/>
  </p:notesMasterIdLst>
  <p:sldIdLst>
    <p:sldId id="275" r:id="rId5"/>
    <p:sldId id="256" r:id="rId6"/>
    <p:sldId id="276" r:id="rId7"/>
    <p:sldId id="277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1371A70-274D-47D8-A222-4F013E6F4DDC}">
          <p14:sldIdLst>
            <p14:sldId id="275"/>
            <p14:sldId id="256"/>
            <p14:sldId id="276"/>
            <p14:sldId id="277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E2138"/>
                </a:solidFill>
                <a:latin typeface="Arial"/>
              </a:rPr>
              <a:t>Annual Sales ($ thousands)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2.6284885501187575E-2"/>
          <c:y val="0.10319006899723555"/>
          <c:w val="0.94405046090475819"/>
          <c:h val="0.810405538413351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8793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E21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484.2</c:v>
                </c:pt>
                <c:pt idx="1">
                  <c:v>470.5</c:v>
                </c:pt>
                <c:pt idx="2">
                  <c:v>609.20000000000005</c:v>
                </c:pt>
                <c:pt idx="3">
                  <c:v>733.2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44-4357-BFCB-A8612362B8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E2138"/>
                </a:solidFill>
                <a:latin typeface="Arial"/>
              </a:rPr>
              <a:t>Sales by Category ($K)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87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1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</c:v>
                </c:pt>
                <c:pt idx="1">
                  <c:v>719</c:v>
                </c:pt>
                <c:pt idx="2">
                  <c:v>836.2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56-4ECF-8377-285911A1D9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E2138"/>
                </a:solidFill>
                <a:latin typeface="Arial"/>
              </a:rPr>
              <a:t>Profit Margin by Category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1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17</c:v>
                </c:pt>
                <c:pt idx="2">
                  <c:v>17.399999999999999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08-44E0-951D-7ACF07E368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E2138"/>
                </a:solidFill>
                <a:latin typeface="Arial"/>
              </a:rPr>
              <a:t>Profit Margin by Discount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1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1–10%</c:v>
                </c:pt>
                <c:pt idx="2">
                  <c:v>11–20%</c:v>
                </c:pt>
                <c:pt idx="3">
                  <c:v>21–30%</c:v>
                </c:pt>
                <c:pt idx="4">
                  <c:v>31–50%</c:v>
                </c:pt>
                <c:pt idx="5">
                  <c:v>51%+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29.5</c:v>
                </c:pt>
                <c:pt idx="1">
                  <c:v>16.600000000000001</c:v>
                </c:pt>
                <c:pt idx="2">
                  <c:v>11.6</c:v>
                </c:pt>
                <c:pt idx="3">
                  <c:v>-10</c:v>
                </c:pt>
                <c:pt idx="4">
                  <c:v>-24.8</c:v>
                </c:pt>
                <c:pt idx="5">
                  <c:v>-119.2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5D-4405-B4D0-F5D78CB2F4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E2138"/>
                </a:solidFill>
                <a:latin typeface="Arial"/>
              </a:rPr>
              <a:t>Biggest Loss-Making Sub-Categories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Binders</c:v>
                </c:pt>
                <c:pt idx="1">
                  <c:v>Tables</c:v>
                </c:pt>
                <c:pt idx="2">
                  <c:v>Machines</c:v>
                </c:pt>
                <c:pt idx="3">
                  <c:v>Bookcases</c:v>
                </c:pt>
                <c:pt idx="4">
                  <c:v>Chairs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-38.5</c:v>
                </c:pt>
                <c:pt idx="1">
                  <c:v>-32.4</c:v>
                </c:pt>
                <c:pt idx="2">
                  <c:v>-30.1</c:v>
                </c:pt>
                <c:pt idx="3">
                  <c:v>-12.2</c:v>
                </c:pt>
                <c:pt idx="4">
                  <c:v>-9.9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D-4734-80F5-84F233441BE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E2138"/>
                </a:solidFill>
                <a:latin typeface="Arial"/>
              </a:rPr>
              <a:t>Sales vs. Profit by Segment ($K)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879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1161.4000000000001</c:v>
                </c:pt>
                <c:pt idx="1">
                  <c:v>706.1</c:v>
                </c:pt>
                <c:pt idx="2">
                  <c:v>429.7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E0-46E2-8A5F-6DC0AE5BA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134.1</c:v>
                </c:pt>
                <c:pt idx="1">
                  <c:v>92</c:v>
                </c:pt>
                <c:pt idx="2">
                  <c:v>60.3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E0-46E2-8A5F-6DC0AE5BA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E2138"/>
                </a:solidFill>
                <a:latin typeface="Arial"/>
              </a:rPr>
              <a:t>Sales by Region ($K)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8793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1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501.2</c:v>
                </c:pt>
                <c:pt idx="1">
                  <c:v>391.7</c:v>
                </c:pt>
                <c:pt idx="2">
                  <c:v>678.8</c:v>
                </c:pt>
                <c:pt idx="3">
                  <c:v>725.5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36-4BB0-8F9A-E68B34CFDE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138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E2138"/>
                </a:solidFill>
                <a:latin typeface="Arial"/>
              </a:rPr>
              <a:t>Profit Margin by Region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1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</c:v>
                </c:pt>
                <c:pt idx="1">
                  <c:v>11.9</c:v>
                </c:pt>
                <c:pt idx="2">
                  <c:v>13.5</c:v>
                </c:pt>
                <c:pt idx="3">
                  <c:v>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50-468A-B2F5-B06280CA48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90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368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716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9821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437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191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4839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954A-D3A0-4F33-841E-CE2F22FDAD85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7DDF-7AC2-428E-BB53-6FD98C25B1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77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76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52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103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99337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7438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32742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336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566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34952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2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90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915F4D-A338-DD88-495A-50B0DD95CA0B}"/>
              </a:ext>
            </a:extLst>
          </p:cNvPr>
          <p:cNvSpPr txBox="1"/>
          <p:nvPr/>
        </p:nvSpPr>
        <p:spPr>
          <a:xfrm>
            <a:off x="3046602" y="218832"/>
            <a:ext cx="60987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Tranining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 </a:t>
            </a:r>
          </a:p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</a:p>
          <a:p>
            <a:pPr algn="ctr"/>
            <a:r>
              <a:rPr lang="en-IN" sz="1800" b="1" dirty="0"/>
              <a:t>“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r>
              <a:rPr lang="en-IN" sz="1800" b="1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E9E8D-AB74-F342-90E4-CCF9BF61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1732841"/>
            <a:ext cx="1905000" cy="190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02F9F8-DAD6-AB17-674B-7356E1E6E011}"/>
              </a:ext>
            </a:extLst>
          </p:cNvPr>
          <p:cNvSpPr txBox="1"/>
          <p:nvPr/>
        </p:nvSpPr>
        <p:spPr>
          <a:xfrm>
            <a:off x="1754173" y="3637841"/>
            <a:ext cx="37960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Pawan Sen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HOD(Department of C.S.E)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A665E-F349-1D12-9F32-8DB778D3FEDF}"/>
              </a:ext>
            </a:extLst>
          </p:cNvPr>
          <p:cNvSpPr txBox="1"/>
          <p:nvPr/>
        </p:nvSpPr>
        <p:spPr>
          <a:xfrm>
            <a:off x="7847900" y="3601160"/>
            <a:ext cx="609879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Suraj kumar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No:-24EACCS711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: 5th Sem/III Year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24009-3750-0ACD-0C35-32E7482EF5B8}"/>
              </a:ext>
            </a:extLst>
          </p:cNvPr>
          <p:cNvSpPr txBox="1"/>
          <p:nvPr/>
        </p:nvSpPr>
        <p:spPr>
          <a:xfrm>
            <a:off x="2790738" y="5064992"/>
            <a:ext cx="66105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Department of Computer Science &amp; Engineering</a:t>
            </a:r>
          </a:p>
          <a:p>
            <a:pPr algn="ctr"/>
            <a:endParaRPr lang="en-IN" dirty="0">
              <a:latin typeface="Algerian" panose="04020705040A02060702" pitchFamily="82" charset="0"/>
            </a:endParaRPr>
          </a:p>
          <a:p>
            <a:pPr algn="ctr"/>
            <a:r>
              <a:rPr lang="en-IN" dirty="0">
                <a:latin typeface="Algerian" panose="04020705040A02060702" pitchFamily="82" charset="0"/>
              </a:rPr>
              <a:t>Arya College of </a:t>
            </a:r>
            <a:r>
              <a:rPr lang="en-IN" dirty="0" err="1">
                <a:latin typeface="Algerian" panose="04020705040A02060702" pitchFamily="82" charset="0"/>
              </a:rPr>
              <a:t>engineering,Jaipur</a:t>
            </a:r>
            <a:r>
              <a:rPr lang="en-IN" dirty="0">
                <a:latin typeface="Algerian" panose="04020705040A02060702" pitchFamily="82" charset="0"/>
              </a:rPr>
              <a:t> </a:t>
            </a:r>
          </a:p>
          <a:p>
            <a:pPr algn="ctr"/>
            <a:r>
              <a:rPr lang="en-IN" dirty="0">
                <a:latin typeface="Algerian" panose="04020705040A02060702" pitchFamily="82" charset="0"/>
              </a:rPr>
              <a:t>Rajasthan Technical University,</a:t>
            </a:r>
          </a:p>
          <a:p>
            <a:pPr algn="ctr"/>
            <a:r>
              <a:rPr lang="en-IN" dirty="0">
                <a:latin typeface="Algerian" panose="04020705040A02060702" pitchFamily="82" charset="0"/>
              </a:rPr>
              <a:t>Kota</a:t>
            </a:r>
            <a:r>
              <a:rPr lang="en-IN">
                <a:latin typeface="Algerian" panose="04020705040A02060702" pitchFamily="82" charset="0"/>
              </a:rPr>
              <a:t>(2026-2027)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0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87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98448" y="566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 ANALYTICS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98448" y="8412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B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BUSINESS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Years of Growth.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Margin Problem.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3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review of Superstore's sales, profitability, customers and geographic performance — FY2014 to FY2017.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95360" y="1188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$2.30M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595360" y="17007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0" y="2423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95360" y="29352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9536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95360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5360" y="4892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95360" y="54041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 ORDERS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INDEX /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98755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</a:defRPr>
            </a:pPr>
            <a:r>
              <a:rPr sz="2400" dirty="0"/>
              <a:t>1. Introduction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</a:defRPr>
            </a:pPr>
            <a:r>
              <a:rPr sz="2400" dirty="0"/>
              <a:t>2. Executive Summary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</a:defRPr>
            </a:pPr>
            <a:r>
              <a:rPr sz="2400" dirty="0"/>
              <a:t>3. Revenue Performance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</a:defRPr>
            </a:pPr>
            <a:r>
              <a:rPr sz="2400" dirty="0"/>
              <a:t>4. Profitability Analysis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</a:defRPr>
            </a:pPr>
            <a:r>
              <a:rPr sz="2400" dirty="0"/>
              <a:t>5. Customer Analysis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</a:defRPr>
            </a:pPr>
            <a:r>
              <a:rPr sz="2400" dirty="0"/>
              <a:t>6. Geographic Performance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</a:defRPr>
            </a:pPr>
            <a:r>
              <a:rPr sz="2400" dirty="0"/>
              <a:t>7. Key Recommendations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419"/>
            <a:ext cx="8396541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73737"/>
                </a:solidFill>
              </a:defRPr>
            </a:pPr>
            <a:r>
              <a:rPr dirty="0"/>
              <a:t>• Superstore Analytics is a data analytics project based on Sample – Superstore order-level data covering FY2014 to FY2017.</a:t>
            </a:r>
          </a:p>
          <a:p>
            <a:pPr>
              <a:spcAft>
                <a:spcPts val="1500"/>
              </a:spcAft>
              <a:defRPr sz="1900">
                <a:solidFill>
                  <a:srgbClr val="373737"/>
                </a:solidFill>
              </a:defRPr>
            </a:pPr>
            <a:r>
              <a:rPr dirty="0"/>
              <a:t>• The presentation reviews the business from multiple perspectives, including sales, profit, customers, product categories, and geographic performance.</a:t>
            </a:r>
          </a:p>
          <a:p>
            <a:pPr>
              <a:spcAft>
                <a:spcPts val="1500"/>
              </a:spcAft>
              <a:defRPr sz="1900">
                <a:solidFill>
                  <a:srgbClr val="373737"/>
                </a:solidFill>
              </a:defRPr>
            </a:pPr>
            <a:r>
              <a:rPr dirty="0"/>
              <a:t>• The objective is to identify growth trends, understand the factors affecting profitability, and highlight areas where data-driven actions can improve business performance.</a:t>
            </a:r>
          </a:p>
          <a:p>
            <a:pPr>
              <a:spcAft>
                <a:spcPts val="1500"/>
              </a:spcAft>
              <a:defRPr sz="1900">
                <a:solidFill>
                  <a:srgbClr val="373737"/>
                </a:solidFill>
              </a:defRPr>
            </a:pPr>
            <a:r>
              <a:rPr dirty="0"/>
              <a:t>• Key areas of focus include discount impact on profit, category and sub-category performance, customer segments, regional margins, and loss-making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65799"/>
            <a:ext cx="87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is growing — but 1 in 5 orders loses money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22918" cy="1307592"/>
          </a:xfrm>
          <a:prstGeom prst="roundRect">
            <a:avLst>
              <a:gd name="adj" fmla="val 5161"/>
            </a:avLst>
          </a:prstGeom>
          <a:solidFill>
            <a:srgbClr val="E3F4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$2.30M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Sales, 2014–2017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404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+51% over 4 years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03007" y="1467024"/>
            <a:ext cx="2037518" cy="1303608"/>
          </a:xfrm>
          <a:prstGeom prst="roundRect">
            <a:avLst>
              <a:gd name="adj" fmla="val 5161"/>
            </a:avLst>
          </a:prstGeom>
          <a:solidFill>
            <a:srgbClr val="E4F5EC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6093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$286K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208005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44529" y="2397993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 net margin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0933" y="1455803"/>
            <a:ext cx="2037518" cy="1314829"/>
          </a:xfrm>
          <a:prstGeom prst="roundRect">
            <a:avLst>
              <a:gd name="adj" fmla="val 5161"/>
            </a:avLst>
          </a:prstGeom>
          <a:solidFill>
            <a:srgbClr val="FBE7E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6159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8471" y="2077953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Sold at a Loss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80937" y="2420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$156K in losses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8859" y="1463040"/>
            <a:ext cx="2037518" cy="1307592"/>
          </a:xfrm>
          <a:prstGeom prst="roundRect">
            <a:avLst>
              <a:gd name="adj" fmla="val 5161"/>
            </a:avLst>
          </a:prstGeom>
          <a:solidFill>
            <a:srgbClr val="EDEAF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55821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98657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Repeat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1826" y="2421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793 unique customers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4864" cy="502920"/>
          </a:xfrm>
          <a:prstGeom prst="rect">
            <a:avLst/>
          </a:prstGeom>
          <a:solidFill>
            <a:srgbClr val="0B87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00400"/>
            <a:ext cx="905012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real.  </a:t>
            </a:r>
            <a:r>
              <a:rPr lang="en-US" sz="1200" dirty="0">
                <a:solidFill>
                  <a:srgbClr val="67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grew every year except a small 2015 dip, reaching $733K in FY2017 (+20% YoY). Technology is now the single largest and most profitable category.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54864" cy="502920"/>
          </a:xfrm>
          <a:prstGeom prst="rect">
            <a:avLst/>
          </a:prstGeom>
          <a:solidFill>
            <a:srgbClr val="0B87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77640"/>
            <a:ext cx="905012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is the biggest lever on profit.  </a:t>
            </a:r>
            <a:r>
              <a:rPr lang="en-US" sz="1200" dirty="0">
                <a:solidFill>
                  <a:srgbClr val="67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discounted above 20% lose money as a rule — the 51%+ discount band alone destroyed $76.6K in profit on just $64K of sales.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4864" cy="502920"/>
          </a:xfrm>
          <a:prstGeom prst="rect">
            <a:avLst/>
          </a:prstGeom>
          <a:solidFill>
            <a:srgbClr val="0B879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39" y="4754880"/>
            <a:ext cx="905012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is a break-even category.  </a:t>
            </a:r>
            <a:r>
              <a:rPr lang="en-US" sz="1200" dirty="0">
                <a:solidFill>
                  <a:srgbClr val="67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generates $742K in sales but only a 2.5% margin, dragged down by Tables (-$32K) and Bookcases (-$12K).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577840"/>
            <a:ext cx="54864" cy="502920"/>
          </a:xfrm>
          <a:prstGeom prst="rect">
            <a:avLst/>
          </a:prstGeom>
          <a:solidFill>
            <a:srgbClr val="0B879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532120"/>
            <a:ext cx="903913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 geographically uneven.  </a:t>
            </a:r>
            <a:r>
              <a:rPr lang="en-US" sz="1200" dirty="0">
                <a:solidFill>
                  <a:srgbClr val="67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Texas, Ohio, Pennsylvania, Illinois and Colorado are all net loss-making states despite meaningful sales volume.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nearly doubled since 2015, profit kept pace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27182249"/>
              </p:ext>
            </p:extLst>
          </p:nvPr>
        </p:nvGraphicFramePr>
        <p:xfrm>
          <a:off x="548641" y="1417320"/>
          <a:ext cx="5726324" cy="432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274965" y="1435272"/>
            <a:ext cx="3802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YEAR-BY-YEAR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334946" y="1692835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77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  Sales   Profit   Margin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34946" y="2139318"/>
            <a:ext cx="3203337" cy="4572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8" name="Text 5"/>
          <p:cNvSpPr/>
          <p:nvPr/>
        </p:nvSpPr>
        <p:spPr>
          <a:xfrm>
            <a:off x="6334946" y="214837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15045" y="2146259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$484K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60787" y="2135521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7082" y="2126461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34946" y="2674158"/>
            <a:ext cx="3203337" cy="4572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3" name="Text 10"/>
          <p:cNvSpPr/>
          <p:nvPr/>
        </p:nvSpPr>
        <p:spPr>
          <a:xfrm>
            <a:off x="6367873" y="2699325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15045" y="2683469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$471K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69489" y="267415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$62K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19321" y="2674681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34946" y="3222798"/>
            <a:ext cx="3203337" cy="4572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8" name="Text 15"/>
          <p:cNvSpPr/>
          <p:nvPr/>
        </p:nvSpPr>
        <p:spPr>
          <a:xfrm>
            <a:off x="6380667" y="3197631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15045" y="320635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$609K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89520" y="320635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$82K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2555" y="3197631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13.4%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34946" y="3813048"/>
            <a:ext cx="3203337" cy="4572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3" name="Text 20"/>
          <p:cNvSpPr/>
          <p:nvPr/>
        </p:nvSpPr>
        <p:spPr>
          <a:xfrm>
            <a:off x="6380667" y="375608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58667" y="377091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$733K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590778" y="37544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$93K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55186" y="376269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12.7%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34946" y="44074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7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was the only down year (-2.8% sales) — but margin still improved, showing early discount discipline that later slipped.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sells well but barely turns a profit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71671918"/>
              </p:ext>
            </p:extLst>
          </p:nvPr>
        </p:nvGraphicFramePr>
        <p:xfrm>
          <a:off x="548640" y="1463040"/>
          <a:ext cx="4375698" cy="3939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500875511"/>
              </p:ext>
            </p:extLst>
          </p:nvPr>
        </p:nvGraphicFramePr>
        <p:xfrm>
          <a:off x="5446972" y="1664208"/>
          <a:ext cx="3764140" cy="3739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73139" y="5603678"/>
            <a:ext cx="8880586" cy="777240"/>
          </a:xfrm>
          <a:prstGeom prst="roundRect">
            <a:avLst>
              <a:gd name="adj" fmla="val 7059"/>
            </a:avLst>
          </a:prstGeom>
          <a:solidFill>
            <a:srgbClr val="FBE7E7"/>
          </a:solidFill>
          <a:ln/>
        </p:spPr>
      </p:sp>
      <p:sp>
        <p:nvSpPr>
          <p:cNvPr id="7" name="Text 3"/>
          <p:cNvSpPr/>
          <p:nvPr/>
        </p:nvSpPr>
        <p:spPr>
          <a:xfrm>
            <a:off x="473139" y="5695118"/>
            <a:ext cx="873797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5C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Furniture underperforms:  </a:t>
            </a:r>
            <a:r>
              <a:rPr lang="en-US" sz="1150" dirty="0">
                <a:solidFill>
                  <a:srgbClr val="7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lose -$32.4K and Bookcases lose -$12.2K in profit, offsetting healthy margins in Chairs and Furnishings. Deep discounting on large-ticket Furniture is the primary driver (see next page).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 20% discount, every sale loses money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134836829"/>
              </p:ext>
            </p:extLst>
          </p:nvPr>
        </p:nvGraphicFramePr>
        <p:xfrm>
          <a:off x="548640" y="1463040"/>
          <a:ext cx="891414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9115477" cy="914400"/>
          </a:xfrm>
          <a:prstGeom prst="roundRect">
            <a:avLst>
              <a:gd name="adj" fmla="val 6000"/>
            </a:avLst>
          </a:prstGeom>
          <a:solidFill>
            <a:srgbClr val="FBE7E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760720"/>
            <a:ext cx="868554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C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tipping point is ~20% discount.  </a:t>
            </a:r>
            <a:r>
              <a:rPr lang="en-US" sz="1100" dirty="0">
                <a:solidFill>
                  <a:srgbClr val="7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20% off, every band is profitable. Past that line, margin turns sharply negative — the 51%+ band lost -119% margin, meaning Superstore paid more than the item's full price to close those sales. This single pattern accounts for the majority of the $156K in order-level losses.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sub-categories account for $123K in losses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57163793"/>
              </p:ext>
            </p:extLst>
          </p:nvPr>
        </p:nvGraphicFramePr>
        <p:xfrm>
          <a:off x="548640" y="1463040"/>
          <a:ext cx="4342142" cy="4610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334001" y="1426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LOSS-MAKING PRODUCTS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34001" y="1813028"/>
            <a:ext cx="4342142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7" name="Text 4"/>
          <p:cNvSpPr/>
          <p:nvPr/>
        </p:nvSpPr>
        <p:spPr>
          <a:xfrm>
            <a:off x="5334001" y="181302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Cubify CubeX 3D Printer (Double Head)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72648" y="18357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-$8,880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34001" y="2442036"/>
            <a:ext cx="434214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1" y="238063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Lexmark MX611dhe Laser Printer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72648" y="238977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-$4,590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4001" y="3077334"/>
            <a:ext cx="4342142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3" name="Text 10"/>
          <p:cNvSpPr/>
          <p:nvPr/>
        </p:nvSpPr>
        <p:spPr>
          <a:xfrm>
            <a:off x="5334001" y="300837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Cubify CubeX 3D Printer (Triple Head)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67615" y="302507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-$3,840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34001" y="3695936"/>
            <a:ext cx="434214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334001" y="36338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Chromcraft Conference Table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02881" y="3650009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-$2,876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34001" y="4314538"/>
            <a:ext cx="4342142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9" name="Text 16"/>
          <p:cNvSpPr/>
          <p:nvPr/>
        </p:nvSpPr>
        <p:spPr>
          <a:xfrm>
            <a:off x="5334001" y="431453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 Advantage Conference Table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867615" y="432435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-$1,934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34001" y="4960242"/>
            <a:ext cx="4937760" cy="1275966"/>
          </a:xfrm>
          <a:prstGeom prst="roundRect">
            <a:avLst>
              <a:gd name="adj" fmla="val 4706"/>
            </a:avLst>
          </a:prstGeom>
          <a:solidFill>
            <a:srgbClr val="FDF0DC"/>
          </a:solidFill>
          <a:ln/>
        </p:spPr>
      </p:sp>
      <p:sp>
        <p:nvSpPr>
          <p:cNvPr id="22" name="Text 19"/>
          <p:cNvSpPr/>
          <p:nvPr/>
        </p:nvSpPr>
        <p:spPr>
          <a:xfrm>
            <a:off x="5540928" y="5189598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5C3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 </a:t>
            </a:r>
            <a:r>
              <a:rPr lang="en-US" sz="1050" dirty="0">
                <a:solidFill>
                  <a:srgbClr val="7A5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worst losses cluster in high-ticket Technology (3D printers, laser printers) and Furniture (conference tables) — items where a standard 40–50% discount erases a much larger absolute profit dollar-for-dollar than on low-cost items.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1528" y="723593"/>
            <a:ext cx="873797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drives volume; Home Office is the healthiest segment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040345123"/>
              </p:ext>
            </p:extLst>
          </p:nvPr>
        </p:nvGraphicFramePr>
        <p:xfrm>
          <a:off x="548640" y="1463040"/>
          <a:ext cx="5390766" cy="4773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73568" y="1463040"/>
            <a:ext cx="3231159" cy="1051560"/>
          </a:xfrm>
          <a:prstGeom prst="roundRect">
            <a:avLst>
              <a:gd name="adj" fmla="val 6087"/>
            </a:avLst>
          </a:prstGeom>
          <a:solidFill>
            <a:srgbClr val="F6F8FB"/>
          </a:solidFill>
          <a:ln/>
        </p:spPr>
      </p:sp>
      <p:sp>
        <p:nvSpPr>
          <p:cNvPr id="6" name="Text 3"/>
          <p:cNvSpPr/>
          <p:nvPr/>
        </p:nvSpPr>
        <p:spPr>
          <a:xfrm>
            <a:off x="6456448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56448" y="1985465"/>
            <a:ext cx="30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8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 customers   ·   11.5% margin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73568" y="2697480"/>
            <a:ext cx="3231159" cy="1051560"/>
          </a:xfrm>
          <a:prstGeom prst="roundRect">
            <a:avLst>
              <a:gd name="adj" fmla="val 6087"/>
            </a:avLst>
          </a:prstGeom>
          <a:solidFill>
            <a:srgbClr val="F6F8FB"/>
          </a:solidFill>
          <a:ln/>
        </p:spPr>
      </p:sp>
      <p:sp>
        <p:nvSpPr>
          <p:cNvPr id="9" name="Text 6"/>
          <p:cNvSpPr/>
          <p:nvPr/>
        </p:nvSpPr>
        <p:spPr>
          <a:xfrm>
            <a:off x="6456448" y="283967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56448" y="322493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236 customers   ·   13.0% margin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3568" y="3954780"/>
            <a:ext cx="3231159" cy="1051560"/>
          </a:xfrm>
          <a:prstGeom prst="roundRect">
            <a:avLst>
              <a:gd name="adj" fmla="val 6087"/>
            </a:avLst>
          </a:prstGeom>
          <a:solidFill>
            <a:srgbClr val="F6F8FB"/>
          </a:solidFill>
          <a:ln/>
        </p:spPr>
      </p:sp>
      <p:sp>
        <p:nvSpPr>
          <p:cNvPr id="12" name="Text 9"/>
          <p:cNvSpPr/>
          <p:nvPr/>
        </p:nvSpPr>
        <p:spPr>
          <a:xfrm>
            <a:off x="6456448" y="40462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Office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56448" y="444385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148 customers   ·   14.0% margin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73568" y="5212080"/>
            <a:ext cx="3289882" cy="1234440"/>
          </a:xfrm>
          <a:prstGeom prst="roundRect">
            <a:avLst>
              <a:gd name="adj" fmla="val 5185"/>
            </a:avLst>
          </a:prstGeom>
          <a:solidFill>
            <a:srgbClr val="EDEAFB"/>
          </a:solidFill>
          <a:ln/>
        </p:spPr>
      </p:sp>
      <p:sp>
        <p:nvSpPr>
          <p:cNvPr id="15" name="Text 12"/>
          <p:cNvSpPr/>
          <p:nvPr/>
        </p:nvSpPr>
        <p:spPr>
          <a:xfrm>
            <a:off x="6273568" y="5375246"/>
            <a:ext cx="323115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D2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 repeat rate.  </a:t>
            </a:r>
            <a:r>
              <a:rPr lang="en-US" sz="1000" dirty="0">
                <a:solidFill>
                  <a:srgbClr val="4A3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all customers order more than once — retention isn't the challenge, order-level profitability is. Top customer Sean Miller ($25K sales) is currently unprofitable due to heavy discounting.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and East lead; Central trails on margin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32826750"/>
              </p:ext>
            </p:extLst>
          </p:nvPr>
        </p:nvGraphicFramePr>
        <p:xfrm>
          <a:off x="684542" y="1487452"/>
          <a:ext cx="4577033" cy="3989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503013069"/>
              </p:ext>
            </p:extLst>
          </p:nvPr>
        </p:nvGraphicFramePr>
        <p:xfrm>
          <a:off x="5261575" y="1371600"/>
          <a:ext cx="4662601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8612138" cy="777240"/>
          </a:xfrm>
          <a:prstGeom prst="roundRect">
            <a:avLst>
              <a:gd name="adj" fmla="val 7059"/>
            </a:avLst>
          </a:prstGeom>
          <a:solidFill>
            <a:srgbClr val="E4F5EC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5852160"/>
            <a:ext cx="829125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4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is the outlier.  </a:t>
            </a:r>
            <a:r>
              <a:rPr lang="en-US" sz="1150" dirty="0">
                <a:solidFill>
                  <a:srgbClr val="155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7.9% margin — nearly half the West's 14.9% — Central's underperformance is concentrated in Texas and Illinois, both net loss-making states despite strong order volume.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states quietly erase West Coast gains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E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STATES BY SALES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46132" y="14748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STATES BY MARGIN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343400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63140" y="17830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$458K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19788" y="1799145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16.7%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4343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682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63140" y="2395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$311K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68930" y="2393337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4343400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5351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05990" y="2986229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$170K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68930" y="29624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-15.1%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38728"/>
            <a:ext cx="4343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387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05990" y="358587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$139K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63215" y="356607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24.1%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23944"/>
            <a:ext cx="4343400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2394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05990" y="415129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$117K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40355" y="41330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6132" y="1799145"/>
            <a:ext cx="4343400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7" name="Text 25"/>
          <p:cNvSpPr/>
          <p:nvPr/>
        </p:nvSpPr>
        <p:spPr>
          <a:xfrm>
            <a:off x="5497830" y="17830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8486" y="177611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$78K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15134" y="1773849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-21.7%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6132" y="2402649"/>
            <a:ext cx="4343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460551" y="240940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75001" y="2393337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$32K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2341" y="237668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-20.3%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97830" y="2986229"/>
            <a:ext cx="4291702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5" name="Text 33"/>
          <p:cNvSpPr/>
          <p:nvPr/>
        </p:nvSpPr>
        <p:spPr>
          <a:xfrm>
            <a:off x="5497830" y="294487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2969577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$31K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2986229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-17.4%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91538" y="3573081"/>
            <a:ext cx="429170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91538" y="35387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3555685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$80K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15972" y="359003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-15.7%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97830" y="4140009"/>
            <a:ext cx="4343400" cy="566928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3" name="Text 41"/>
          <p:cNvSpPr/>
          <p:nvPr/>
        </p:nvSpPr>
        <p:spPr>
          <a:xfrm>
            <a:off x="5504908" y="40976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72012" y="4157239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$170K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15972" y="41575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-15.1%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3959" y="4896612"/>
            <a:ext cx="9081921" cy="1051560"/>
          </a:xfrm>
          <a:prstGeom prst="roundRect">
            <a:avLst>
              <a:gd name="adj" fmla="val 5217"/>
            </a:avLst>
          </a:prstGeom>
          <a:solidFill>
            <a:srgbClr val="FBE7E7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5070348"/>
            <a:ext cx="86352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5C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and Pennsylvania are the clearest red flags:  </a:t>
            </a:r>
            <a:r>
              <a:rPr lang="en-US" sz="1150" dirty="0">
                <a:solidFill>
                  <a:srgbClr val="7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rank in the top 5 for sales volume yet post double-digit negative margins. This is not a low-volume problem — it's a pricing and discount-approval problem in high-volume markets, and the fastest place to recover profit without losing revenue.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moves to convert growth into margin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457910" cy="1965960"/>
          </a:xfrm>
          <a:prstGeom prst="roundRect">
            <a:avLst>
              <a:gd name="adj" fmla="val 3721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8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discretionary discounts at 20%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390843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AE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manager approval above 20% off — the data shows this is the exact point where margin turns negative.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75074" y="1728216"/>
            <a:ext cx="4314877" cy="1965960"/>
          </a:xfrm>
          <a:prstGeom prst="roundRect">
            <a:avLst>
              <a:gd name="adj" fmla="val 3721"/>
            </a:avLst>
          </a:prstGeom>
          <a:solidFill>
            <a:srgbClr val="16304F"/>
          </a:solidFill>
          <a:ln/>
        </p:spPr>
      </p:sp>
      <p:sp>
        <p:nvSpPr>
          <p:cNvPr id="9" name="Text 7"/>
          <p:cNvSpPr/>
          <p:nvPr/>
        </p:nvSpPr>
        <p:spPr>
          <a:xfrm>
            <a:off x="5741006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25486" y="24185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Re-price or re-source Tables &amp; Bookcases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06440" y="2900787"/>
            <a:ext cx="37570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AE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sub-categories lose money even before heavy discounting; renegotiate supplier cost or reposition pricing.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457910" cy="1965960"/>
          </a:xfrm>
          <a:prstGeom prst="roundRect">
            <a:avLst>
              <a:gd name="adj" fmla="val 3721"/>
            </a:avLst>
          </a:prstGeom>
          <a:solidFill>
            <a:srgbClr val="16304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69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Texas &amp; Pennsylvania pricing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093208"/>
            <a:ext cx="390843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AE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High-volume, negative-margin states point to local discount practices worth a dedicated review.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75075" y="3909060"/>
            <a:ext cx="4314877" cy="1965960"/>
          </a:xfrm>
          <a:prstGeom prst="roundRect">
            <a:avLst>
              <a:gd name="adj" fmla="val 3721"/>
            </a:avLst>
          </a:prstGeom>
          <a:solidFill>
            <a:srgbClr val="16304F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4069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54041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Technology &amp; Home Office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5119466"/>
            <a:ext cx="37570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AE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Highest-margin category and segment — prioritize them in inventory, marketing spend and account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9287" y="2662246"/>
            <a:ext cx="740873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0602EA-9A28-C0BA-3923-F8743007FA5E}"/>
              </a:ext>
            </a:extLst>
          </p:cNvPr>
          <p:cNvSpPr txBox="1"/>
          <p:nvPr/>
        </p:nvSpPr>
        <p:spPr>
          <a:xfrm>
            <a:off x="3849287" y="3606996"/>
            <a:ext cx="60987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Suraj kumar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No:-24EACCS711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 : 5th Sem/III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145125A92A24198F6A1F4AC3FF6A4" ma:contentTypeVersion="11" ma:contentTypeDescription="Create a new document." ma:contentTypeScope="" ma:versionID="18a550ed3624715aa86bbd8521fcc58a">
  <xsd:schema xmlns:xsd="http://www.w3.org/2001/XMLSchema" xmlns:xs="http://www.w3.org/2001/XMLSchema" xmlns:p="http://schemas.microsoft.com/office/2006/metadata/properties" xmlns:ns2="d11c8bcb-06b6-405c-bbb3-a8a86073920f" xmlns:ns3="db307f3f-0a1d-4a52-be8c-5084dfe27008" targetNamespace="http://schemas.microsoft.com/office/2006/metadata/properties" ma:root="true" ma:fieldsID="8110fb3d7a38b67fabf6767a28585ec7" ns2:_="" ns3:_="">
    <xsd:import namespace="d11c8bcb-06b6-405c-bbb3-a8a86073920f"/>
    <xsd:import namespace="db307f3f-0a1d-4a52-be8c-5084dfe270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c8bcb-06b6-405c-bbb3-a8a8607392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d370624-a727-4f61-aa4e-6c35431f2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07f3f-0a1d-4a52-be8c-5084dfe2700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2854917-710e-460b-8f28-24544ca602c0}" ma:internalName="TaxCatchAll" ma:showField="CatchAllData" ma:web="db307f3f-0a1d-4a52-be8c-5084dfe270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307f3f-0a1d-4a52-be8c-5084dfe27008" xsi:nil="true"/>
    <lcf76f155ced4ddcb4097134ff3c332f xmlns="d11c8bcb-06b6-405c-bbb3-a8a86073920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521C82B-A457-4538-85C0-9407BEE91A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8C756C-313C-40D5-8DED-7422FEBB02F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11c8bcb-06b6-405c-bbb3-a8a86073920f"/>
    <ds:schemaRef ds:uri="db307f3f-0a1d-4a52-be8c-5084dfe2700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8C344D-8D03-4D8F-9F28-0DB505958721}">
  <ds:schemaRefs>
    <ds:schemaRef ds:uri="http://schemas.microsoft.com/office/2006/metadata/properties"/>
    <ds:schemaRef ds:uri="http://www.w3.org/2000/xmlns/"/>
    <ds:schemaRef ds:uri="db307f3f-0a1d-4a52-be8c-5084dfe27008"/>
    <ds:schemaRef ds:uri="http://www.w3.org/2001/XMLSchema-instance"/>
    <ds:schemaRef ds:uri="d11c8bcb-06b6-405c-bbb3-a8a86073920f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1126</Words>
  <Application>Microsoft Office PowerPoint</Application>
  <PresentationFormat>Widescreen</PresentationFormat>
  <Paragraphs>185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Arial</vt:lpstr>
      <vt:lpstr>Calibri</vt:lpstr>
      <vt:lpstr>Courier New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suraj kumar</cp:lastModifiedBy>
  <cp:revision>7</cp:revision>
  <dcterms:created xsi:type="dcterms:W3CDTF">2026-07-15T04:46:04Z</dcterms:created>
  <dcterms:modified xsi:type="dcterms:W3CDTF">2026-09-16T17:26:19Z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0x0101003A9145125A92A24198F6A1F4AC3FF6A4</vt:lpwstr>
  </property>
</Properties>
</file>